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9" r:id="rId4"/>
    <p:sldId id="266" r:id="rId5"/>
    <p:sldId id="267" r:id="rId6"/>
    <p:sldId id="265" r:id="rId7"/>
    <p:sldId id="272" r:id="rId8"/>
    <p:sldId id="273" r:id="rId9"/>
    <p:sldId id="274" r:id="rId10"/>
    <p:sldId id="275" r:id="rId11"/>
    <p:sldId id="258" r:id="rId12"/>
    <p:sldId id="260" r:id="rId13"/>
    <p:sldId id="270" r:id="rId14"/>
    <p:sldId id="271" r:id="rId15"/>
    <p:sldId id="268" r:id="rId16"/>
    <p:sldId id="269" r:id="rId17"/>
    <p:sldId id="261" r:id="rId18"/>
    <p:sldId id="262" r:id="rId19"/>
    <p:sldId id="263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81001"/>
            <a:ext cx="8312834" cy="2209800"/>
          </a:xfrm>
        </p:spPr>
        <p:txBody>
          <a:bodyPr/>
          <a:lstStyle/>
          <a:p>
            <a:pPr algn="l"/>
            <a:r>
              <a:rPr lang="pt-BR" dirty="0" smtClean="0"/>
              <a:t>Apresentação de Projeto Integrador I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819400"/>
            <a:ext cx="8465234" cy="1752600"/>
          </a:xfrm>
        </p:spPr>
        <p:txBody>
          <a:bodyPr>
            <a:normAutofit/>
          </a:bodyPr>
          <a:lstStyle/>
          <a:p>
            <a:pPr algn="l"/>
            <a:r>
              <a:rPr lang="pt-BR" dirty="0" smtClean="0"/>
              <a:t>Grupo CyberLinux</a:t>
            </a:r>
          </a:p>
          <a:p>
            <a:pPr algn="l"/>
            <a:r>
              <a:rPr lang="pt-BR" sz="2200" dirty="0" smtClean="0"/>
              <a:t>NOMES: Douglas P. Brum, Luiz Otavio G. Da Silva, Gustavo Constante P. Da Silva</a:t>
            </a:r>
            <a:endParaRPr lang="pt-BR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4267200"/>
            <a:ext cx="7315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Sistemas Operacionais:</a:t>
            </a:r>
          </a:p>
          <a:p>
            <a:r>
              <a:rPr lang="pt-BR" sz="2800" dirty="0" smtClean="0"/>
              <a:t>- Ubuntu</a:t>
            </a:r>
          </a:p>
          <a:p>
            <a:r>
              <a:rPr lang="pt-BR" sz="2800" dirty="0" smtClean="0"/>
              <a:t>- BackBox</a:t>
            </a:r>
            <a:endParaRPr lang="pt-BR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5791200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Nicho Especifico: Cibersegurança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2836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727664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Apresentação do Sistema (Histórico e Perfil de </a:t>
            </a:r>
            <a:r>
              <a:rPr lang="pt-BR" dirty="0" smtClean="0"/>
              <a:t>Uso)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399"/>
            <a:ext cx="8382000" cy="457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b="1" dirty="0"/>
              <a:t> </a:t>
            </a:r>
            <a:r>
              <a:rPr lang="pt-BR" sz="2400" b="1" dirty="0" smtClean="0"/>
              <a:t> BackBox </a:t>
            </a:r>
            <a:r>
              <a:rPr lang="pt-BR" sz="2400" dirty="0" smtClean="0"/>
              <a:t>em </a:t>
            </a:r>
            <a:r>
              <a:rPr lang="pt-BR" sz="2400" dirty="0"/>
              <a:t>comparação com o </a:t>
            </a:r>
            <a:r>
              <a:rPr lang="pt-BR" sz="2400" b="1" dirty="0" smtClean="0"/>
              <a:t>Ubuntu:</a:t>
            </a:r>
            <a:endParaRPr lang="pt-BR" sz="2200" dirty="0" smtClean="0"/>
          </a:p>
          <a:p>
            <a:r>
              <a:rPr lang="pt-BR" sz="2200" dirty="0" smtClean="0"/>
              <a:t>Lançado </a:t>
            </a:r>
            <a:r>
              <a:rPr lang="pt-BR" sz="2200" dirty="0"/>
              <a:t>originalmente em 2010 sob a liderança do desenvolvedor italiano Raffaele Forte.</a:t>
            </a:r>
          </a:p>
          <a:p>
            <a:r>
              <a:rPr lang="pt-BR" sz="2200" dirty="0"/>
              <a:t>Projetado com base no ecossistema Ubuntu LTS (Long Term Support), garantindo estabilidade de kernel e suporte prolongado de atualização</a:t>
            </a:r>
            <a:r>
              <a:rPr lang="pt-BR" sz="2200" dirty="0" smtClean="0"/>
              <a:t>.</a:t>
            </a:r>
          </a:p>
          <a:p>
            <a:endParaRPr lang="pt-BR" sz="2200" dirty="0"/>
          </a:p>
          <a:p>
            <a:r>
              <a:rPr lang="pt-BR" sz="2200" b="1" dirty="0"/>
              <a:t>Nicho:</a:t>
            </a:r>
            <a:r>
              <a:rPr lang="pt-BR" sz="2200" dirty="0"/>
              <a:t> Cibersegurança, Testes de Penetração (</a:t>
            </a:r>
            <a:r>
              <a:rPr lang="pt-BR" sz="2200" i="1" dirty="0"/>
              <a:t>Penetration Testing</a:t>
            </a:r>
            <a:r>
              <a:rPr lang="pt-BR" sz="2200" dirty="0"/>
              <a:t>), Auditoria de Redes, Engenharia Reversa e Computação Forense.</a:t>
            </a:r>
          </a:p>
          <a:p>
            <a:r>
              <a:rPr lang="pt-BR" sz="2200" b="1" dirty="0"/>
              <a:t>Público-Alvo:</a:t>
            </a:r>
            <a:r>
              <a:rPr lang="pt-BR" sz="2200" dirty="0"/>
              <a:t> Profissionais de </a:t>
            </a:r>
            <a:r>
              <a:rPr lang="pt-BR" sz="2200" i="1" dirty="0"/>
              <a:t>Red Team</a:t>
            </a:r>
            <a:r>
              <a:rPr lang="pt-BR" sz="2200" dirty="0"/>
              <a:t>, analistas de segurança da informação, peritos computacionais e estudantes de segurança cibernética.</a:t>
            </a:r>
          </a:p>
          <a:p>
            <a:r>
              <a:rPr lang="pt-BR" sz="2200" b="1" dirty="0"/>
              <a:t>Filosofia:</a:t>
            </a:r>
            <a:r>
              <a:rPr lang="pt-BR" sz="2200" dirty="0"/>
              <a:t> Sistema operacional pronto para uso (</a:t>
            </a:r>
            <a:r>
              <a:rPr lang="pt-BR" sz="2200" i="1" dirty="0"/>
              <a:t>out-of-the-box</a:t>
            </a:r>
            <a:r>
              <a:rPr lang="pt-BR" sz="2200" dirty="0"/>
              <a:t>), extremamente leve e sem a necessidade de gastar horas instalando e compilando repositórios adicionais de segurança.</a:t>
            </a:r>
          </a:p>
          <a:p>
            <a:pPr marL="0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0620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965664"/>
          </a:xfrm>
        </p:spPr>
        <p:txBody>
          <a:bodyPr>
            <a:normAutofit/>
          </a:bodyPr>
          <a:lstStyle/>
          <a:p>
            <a:pPr algn="l"/>
            <a:r>
              <a:rPr lang="pt-BR" sz="2800" dirty="0"/>
              <a:t>Instalação (Virtualizador e Sistema Operacional)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7231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sz="2800" b="1" dirty="0" smtClean="0"/>
              <a:t>Configuração </a:t>
            </a:r>
            <a:r>
              <a:rPr lang="pt-BR" sz="2800" b="1" dirty="0"/>
              <a:t>do Virtualizador (Oracle VM VirtualBox 7.2</a:t>
            </a:r>
            <a:r>
              <a:rPr lang="pt-BR" sz="2800" b="1" dirty="0" smtClean="0"/>
              <a:t>):</a:t>
            </a:r>
          </a:p>
          <a:p>
            <a:pPr marL="0" indent="0">
              <a:buNone/>
            </a:pPr>
            <a:endParaRPr lang="pt-BR" sz="2800" b="1" dirty="0"/>
          </a:p>
          <a:p>
            <a:pPr marL="0" indent="0">
              <a:buNone/>
            </a:pPr>
            <a:r>
              <a:rPr lang="pt-BR" sz="2800" b="1" dirty="0" smtClean="0"/>
              <a:t>1. Instalação </a:t>
            </a:r>
            <a:r>
              <a:rPr lang="pt-BR" sz="2800" b="1" dirty="0"/>
              <a:t>do VirtualBox:</a:t>
            </a:r>
            <a:r>
              <a:rPr lang="pt-BR" sz="2800" dirty="0"/>
              <a:t> Baixar e instalar o </a:t>
            </a:r>
            <a:r>
              <a:rPr lang="pt-BR" sz="2800" b="1" dirty="0"/>
              <a:t>VirtualBox 7.2</a:t>
            </a:r>
            <a:r>
              <a:rPr lang="pt-BR" sz="2800" dirty="0"/>
              <a:t> no sistema operacional hospedeiro (Windows/Linux). </a:t>
            </a:r>
            <a:endParaRPr lang="pt-BR" sz="2800" dirty="0" smtClean="0"/>
          </a:p>
          <a:p>
            <a:pPr marL="514350" indent="-514350">
              <a:buAutoNum type="arabicPeriod"/>
            </a:pPr>
            <a:endParaRPr lang="pt-BR" sz="2800" dirty="0"/>
          </a:p>
          <a:p>
            <a:pPr marL="0" indent="0">
              <a:buNone/>
            </a:pPr>
            <a:r>
              <a:rPr lang="pt-BR" sz="2800" b="1" dirty="0" smtClean="0"/>
              <a:t>2. Instalação </a:t>
            </a:r>
            <a:r>
              <a:rPr lang="pt-BR" sz="2800" b="1" dirty="0"/>
              <a:t>do Extension Pack:</a:t>
            </a:r>
            <a:r>
              <a:rPr lang="pt-BR" sz="2800" dirty="0"/>
              <a:t> Instalar o </a:t>
            </a:r>
            <a:r>
              <a:rPr lang="pt-BR" sz="2800" i="1" dirty="0"/>
              <a:t>VirtualBox Extension Pack</a:t>
            </a:r>
            <a:r>
              <a:rPr lang="pt-BR" sz="2800" dirty="0"/>
              <a:t> correspondente à versão 7.2 para garantir suporte a dispositivos USB 2.0/3.0 e integração avançada de rede.</a:t>
            </a:r>
          </a:p>
          <a:p>
            <a:pPr marL="0" indent="0">
              <a:buNone/>
            </a:pPr>
            <a:endParaRPr lang="pt-BR" sz="2800" b="1" dirty="0" smtClean="0"/>
          </a:p>
          <a:p>
            <a:pPr marL="0" indent="0">
              <a:buNone/>
            </a:pPr>
            <a:r>
              <a:rPr lang="pt-BR" sz="2800" b="1" dirty="0" smtClean="0"/>
              <a:t>3. Criação </a:t>
            </a:r>
            <a:r>
              <a:rPr lang="pt-BR" sz="2800" b="1" dirty="0"/>
              <a:t>da Máquina Virtual (VM):</a:t>
            </a:r>
            <a:endParaRPr lang="pt-BR" sz="2800" dirty="0"/>
          </a:p>
          <a:p>
            <a:pPr lvl="1"/>
            <a:r>
              <a:rPr lang="pt-BR" sz="2800" b="1" dirty="0"/>
              <a:t>Nome:</a:t>
            </a:r>
            <a:r>
              <a:rPr lang="pt-BR" sz="2800" dirty="0"/>
              <a:t> BackBox Linux (ou Ubuntu Desktop).</a:t>
            </a:r>
          </a:p>
          <a:p>
            <a:pPr lvl="1"/>
            <a:r>
              <a:rPr lang="pt-BR" sz="2800" b="1" dirty="0"/>
              <a:t>Tipo:</a:t>
            </a:r>
            <a:r>
              <a:rPr lang="pt-BR" sz="2800" dirty="0"/>
              <a:t> Linux.</a:t>
            </a:r>
          </a:p>
          <a:p>
            <a:pPr lvl="1"/>
            <a:r>
              <a:rPr lang="pt-BR" sz="2800" b="1" dirty="0"/>
              <a:t>Versão:</a:t>
            </a:r>
            <a:r>
              <a:rPr lang="pt-BR" sz="2800" dirty="0"/>
              <a:t> Ubuntu (64-bit). </a:t>
            </a:r>
          </a:p>
          <a:p>
            <a:pPr marL="0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56356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b="1" dirty="0" smtClean="0"/>
              <a:t>Alocação </a:t>
            </a:r>
            <a:r>
              <a:rPr lang="pt-BR" b="1" dirty="0"/>
              <a:t>de Recursos no VirtualBox (Especificações do Experimento</a:t>
            </a:r>
            <a:r>
              <a:rPr lang="pt-BR" b="1" dirty="0" smtClean="0"/>
              <a:t>):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Para manter a equivalência de testes no computador equipado com o processador </a:t>
            </a:r>
            <a:r>
              <a:rPr lang="pt-BR" b="1" dirty="0"/>
              <a:t>Intel Celeron N4020</a:t>
            </a:r>
            <a:r>
              <a:rPr lang="pt-BR" dirty="0"/>
              <a:t> e </a:t>
            </a:r>
            <a:r>
              <a:rPr lang="pt-BR" b="1" dirty="0"/>
              <a:t>4,00 GB de RAM</a:t>
            </a:r>
            <a:r>
              <a:rPr lang="pt-BR" dirty="0"/>
              <a:t>: </a:t>
            </a:r>
            <a:endParaRPr lang="pt-BR" dirty="0" smtClean="0"/>
          </a:p>
          <a:p>
            <a:endParaRPr lang="pt-BR" dirty="0"/>
          </a:p>
          <a:p>
            <a:r>
              <a:rPr lang="pt-BR" b="1" dirty="0"/>
              <a:t>Processador (CPU):</a:t>
            </a:r>
            <a:r>
              <a:rPr lang="pt-BR" dirty="0"/>
              <a:t> 1 vCPU (com limite de execução configurado em 100</a:t>
            </a:r>
            <a:r>
              <a:rPr lang="pt-BR" dirty="0" smtClean="0"/>
              <a:t>%).</a:t>
            </a:r>
          </a:p>
          <a:p>
            <a:endParaRPr lang="pt-BR" dirty="0"/>
          </a:p>
          <a:p>
            <a:r>
              <a:rPr lang="pt-BR" b="1" dirty="0"/>
              <a:t>Memória RAM:</a:t>
            </a:r>
            <a:r>
              <a:rPr lang="pt-BR" dirty="0"/>
              <a:t> 1,5 GB a 2,0 GB (1536 MB – 2048 MB), garantindo que a máquina hospedeira mantenha memória suficiente para o VirtualBox rodar sem travamentos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Disco Rígido Virtual:</a:t>
            </a:r>
            <a:r>
              <a:rPr lang="pt-BR" dirty="0"/>
              <a:t> 20 GB a 25 GB no formato </a:t>
            </a:r>
            <a:r>
              <a:rPr lang="pt-BR" b="1" dirty="0"/>
              <a:t>VDI (VirtualBox Disk Image)</a:t>
            </a:r>
            <a:r>
              <a:rPr lang="pt-BR" dirty="0"/>
              <a:t> com alocação dinamicamente modificada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Placa de Rede:</a:t>
            </a:r>
            <a:r>
              <a:rPr lang="pt-BR" dirty="0"/>
              <a:t> Adaptador em modo </a:t>
            </a:r>
            <a:r>
              <a:rPr lang="pt-BR" b="1" dirty="0"/>
              <a:t>NAT</a:t>
            </a:r>
            <a:r>
              <a:rPr lang="pt-BR" dirty="0"/>
              <a:t> (para isolamento e acesso seguro à internet) ou </a:t>
            </a:r>
            <a:r>
              <a:rPr lang="pt-BR" b="1" dirty="0"/>
              <a:t>Bridge</a:t>
            </a:r>
            <a:r>
              <a:rPr lang="pt-BR" dirty="0"/>
              <a:t> (para a execução das varreduras do scanner OpenVAS/Greenbone).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09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52577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b="1" dirty="0" smtClean="0"/>
              <a:t>Passo </a:t>
            </a:r>
            <a:r>
              <a:rPr lang="pt-BR" b="1" dirty="0"/>
              <a:t>a Passo da Instalação do Sistema Operacional no </a:t>
            </a:r>
            <a:r>
              <a:rPr lang="pt-BR" b="1" dirty="0" smtClean="0"/>
              <a:t>VirtualBox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Vinculação da Imagem ISO:</a:t>
            </a:r>
            <a:endParaRPr lang="pt-BR" dirty="0"/>
          </a:p>
          <a:p>
            <a:pPr lvl="1"/>
            <a:r>
              <a:rPr lang="pt-BR" dirty="0"/>
              <a:t>Acesse Configurações da VM -&gt; Armazenamento -&gt; Controlador IDE/SATA.</a:t>
            </a:r>
          </a:p>
          <a:p>
            <a:pPr lvl="1"/>
            <a:r>
              <a:rPr lang="pt-BR" dirty="0"/>
              <a:t>Selecione o arquivo ISO baixado (</a:t>
            </a:r>
            <a:r>
              <a:rPr lang="pt-BR" b="1" dirty="0"/>
              <a:t>BackBox Linux v9 AMD64</a:t>
            </a:r>
            <a:r>
              <a:rPr lang="pt-BR" dirty="0"/>
              <a:t> ou </a:t>
            </a:r>
            <a:r>
              <a:rPr lang="pt-BR" b="1" dirty="0"/>
              <a:t>Ubuntu Desktop</a:t>
            </a:r>
            <a:r>
              <a:rPr lang="pt-BR" dirty="0"/>
              <a:t>). </a:t>
            </a:r>
            <a:endParaRPr lang="pt-BR" dirty="0" smtClean="0"/>
          </a:p>
          <a:p>
            <a:pPr lvl="1"/>
            <a:endParaRPr lang="pt-BR" dirty="0"/>
          </a:p>
          <a:p>
            <a:r>
              <a:rPr lang="pt-BR" b="1" dirty="0"/>
              <a:t>Início da Instalação (</a:t>
            </a:r>
            <a:r>
              <a:rPr lang="pt-BR" b="1" i="1" dirty="0"/>
              <a:t>Live Boot</a:t>
            </a:r>
            <a:r>
              <a:rPr lang="pt-BR" b="1" dirty="0"/>
              <a:t>):</a:t>
            </a:r>
            <a:endParaRPr lang="pt-BR" dirty="0"/>
          </a:p>
          <a:p>
            <a:pPr lvl="1"/>
            <a:r>
              <a:rPr lang="pt-BR" dirty="0"/>
              <a:t>Inicie a VM no VirtualBox e selecione a opção de boot no menu inicial (</a:t>
            </a:r>
            <a:r>
              <a:rPr lang="pt-BR" i="1" dirty="0"/>
              <a:t>Boot BackBox Linux</a:t>
            </a:r>
            <a:r>
              <a:rPr lang="pt-BR" dirty="0"/>
              <a:t> ou </a:t>
            </a:r>
            <a:r>
              <a:rPr lang="pt-BR" i="1" dirty="0"/>
              <a:t>Try/Install Ubuntu</a:t>
            </a:r>
            <a:r>
              <a:rPr lang="pt-BR" dirty="0" smtClean="0"/>
              <a:t>).</a:t>
            </a:r>
          </a:p>
          <a:p>
            <a:pPr lvl="1"/>
            <a:endParaRPr lang="pt-BR" dirty="0"/>
          </a:p>
          <a:p>
            <a:r>
              <a:rPr lang="pt-BR" b="1" dirty="0"/>
              <a:t>Particionamento e Configuração:</a:t>
            </a:r>
            <a:endParaRPr lang="pt-BR" dirty="0"/>
          </a:p>
          <a:p>
            <a:pPr lvl="1"/>
            <a:r>
              <a:rPr lang="pt-BR" dirty="0"/>
              <a:t>Clique no instalador gráfico na área de trabalho (</a:t>
            </a:r>
            <a:r>
              <a:rPr lang="pt-BR" i="1" dirty="0"/>
              <a:t>Install BackBox</a:t>
            </a:r>
            <a:r>
              <a:rPr lang="pt-BR" dirty="0"/>
              <a:t> / </a:t>
            </a:r>
            <a:r>
              <a:rPr lang="pt-BR" i="1" dirty="0"/>
              <a:t>Install Ubuntu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Selecione o idioma e o layout do teclado (</a:t>
            </a:r>
            <a:r>
              <a:rPr lang="pt-BR" b="1" dirty="0"/>
              <a:t>Português Brasil - ABNT2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No tipo de instalação, selecione </a:t>
            </a:r>
            <a:r>
              <a:rPr lang="pt-BR" b="1" dirty="0"/>
              <a:t>"Apagar disco e instalar o sistema"</a:t>
            </a:r>
            <a:r>
              <a:rPr lang="pt-BR" dirty="0"/>
              <a:t> (particionamento automático ext4 e partição swap</a:t>
            </a:r>
            <a:r>
              <a:rPr lang="pt-BR" dirty="0" smtClean="0"/>
              <a:t>).</a:t>
            </a:r>
          </a:p>
          <a:p>
            <a:pPr lvl="1"/>
            <a:endParaRPr lang="pt-BR" dirty="0"/>
          </a:p>
          <a:p>
            <a:r>
              <a:rPr lang="pt-BR" b="1" dirty="0"/>
              <a:t>Criação do Usuário e Finalização:</a:t>
            </a:r>
            <a:endParaRPr lang="pt-BR" dirty="0"/>
          </a:p>
          <a:p>
            <a:pPr lvl="1"/>
            <a:r>
              <a:rPr lang="pt-BR" dirty="0"/>
              <a:t>Defina o nome do usuário principal, o nome da máquina (</a:t>
            </a:r>
            <a:r>
              <a:rPr lang="pt-BR" i="1" dirty="0"/>
              <a:t>hostname</a:t>
            </a:r>
            <a:r>
              <a:rPr lang="pt-BR" dirty="0"/>
              <a:t>) e a senha de administrador com privilégios sudo. </a:t>
            </a:r>
          </a:p>
          <a:p>
            <a:pPr lvl="1"/>
            <a:r>
              <a:rPr lang="pt-BR" dirty="0"/>
              <a:t>Conclua a instalação, reinicie a VM e remova a ISO virtual através do menu Dispositivos -&gt; Discos Ópticos</a:t>
            </a:r>
            <a:r>
              <a:rPr lang="pt-BR" dirty="0" smtClean="0"/>
              <a:t>.</a:t>
            </a:r>
          </a:p>
          <a:p>
            <a:pPr lvl="1"/>
            <a:endParaRPr lang="pt-BR" dirty="0"/>
          </a:p>
          <a:p>
            <a:r>
              <a:rPr lang="pt-BR" b="1" dirty="0"/>
              <a:t>Instalação dos Adicionais para Convidado (</a:t>
            </a:r>
            <a:r>
              <a:rPr lang="pt-BR" b="1" i="1" dirty="0"/>
              <a:t>Guest Additions</a:t>
            </a:r>
            <a:r>
              <a:rPr lang="pt-BR" b="1" dirty="0"/>
              <a:t>):</a:t>
            </a:r>
            <a:endParaRPr lang="pt-BR" dirty="0"/>
          </a:p>
          <a:p>
            <a:pPr lvl="1"/>
            <a:r>
              <a:rPr lang="pt-BR" dirty="0"/>
              <a:t>No menu do VirtualBox, clique em Dispositivos -&gt; Inserir imagem de CD dos Adicionais para Convidado.</a:t>
            </a:r>
          </a:p>
          <a:p>
            <a:pPr lvl="1"/>
            <a:r>
              <a:rPr lang="pt-BR" dirty="0"/>
              <a:t>Abra o terminal na VM e execute a instalação dos drivers para habilitar o ajuste automático de resolução de tela, área de transferência compartilhada e integração do ponteiro do mouse</a:t>
            </a:r>
            <a:r>
              <a:rPr lang="pt-BR" dirty="0" smtClean="0"/>
              <a:t>:</a:t>
            </a:r>
          </a:p>
          <a:p>
            <a:r>
              <a:rPr lang="pt-BR" dirty="0"/>
              <a:t>Bash</a:t>
            </a:r>
          </a:p>
          <a:p>
            <a:r>
              <a:rPr lang="pt-BR" dirty="0"/>
              <a:t>sudo sh /media/$USER/VBOXADDITIONS*/VBoxLinuxAdditions.run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385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b="1" dirty="0"/>
              <a:t>Passo a Passo </a:t>
            </a:r>
            <a:r>
              <a:rPr lang="pt-BR" b="1" dirty="0" smtClean="0"/>
              <a:t>da </a:t>
            </a:r>
            <a:r>
              <a:rPr lang="pt-BR" b="1" dirty="0"/>
              <a:t>Instalação do </a:t>
            </a:r>
            <a:r>
              <a:rPr lang="pt-BR" b="1" dirty="0" smtClean="0"/>
              <a:t>BackBox: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 smtClean="0"/>
              <a:t>1. Dar </a:t>
            </a:r>
            <a:r>
              <a:rPr lang="pt-BR" dirty="0"/>
              <a:t>boot na ISO em modo </a:t>
            </a:r>
            <a:r>
              <a:rPr lang="pt-BR" i="1" dirty="0"/>
              <a:t>Live</a:t>
            </a:r>
            <a:r>
              <a:rPr lang="pt-BR" dirty="0" smtClean="0"/>
              <a:t>.</a:t>
            </a:r>
          </a:p>
          <a:p>
            <a:pPr marL="514350" indent="-514350">
              <a:buAutoNum type="arabicPeriod"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2. Clique </a:t>
            </a:r>
            <a:r>
              <a:rPr lang="pt-BR" dirty="0"/>
              <a:t>no ícone de instalação no desktop (</a:t>
            </a:r>
            <a:r>
              <a:rPr lang="pt-BR" i="1" dirty="0"/>
              <a:t>Install BackBox Linux</a:t>
            </a:r>
            <a:r>
              <a:rPr lang="pt-BR" dirty="0" smtClean="0"/>
              <a:t>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3. Selecione </a:t>
            </a:r>
            <a:r>
              <a:rPr lang="pt-BR" dirty="0"/>
              <a:t>o idioma, layout do teclado (ABNT2 ou US) e fuso horário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4. Particionamento</a:t>
            </a:r>
            <a:r>
              <a:rPr lang="pt-BR" dirty="0"/>
              <a:t>: Marcar "Limpar disco e instalar o BackBox" (</a:t>
            </a:r>
            <a:r>
              <a:rPr lang="pt-BR" i="1" dirty="0"/>
              <a:t>Erase disk and install BackBox</a:t>
            </a:r>
            <a:r>
              <a:rPr lang="pt-BR" dirty="0" smtClean="0"/>
              <a:t>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5. Criar </a:t>
            </a:r>
            <a:r>
              <a:rPr lang="pt-BR" dirty="0"/>
              <a:t>o usuário principal e definir senha de administrador (sudo).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368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dirty="0"/>
              <a:t>Comandos Essenciais para Uso (Terminal no BackBox / </a:t>
            </a:r>
            <a:r>
              <a:rPr lang="pt-BR" sz="3200" dirty="0" smtClean="0"/>
              <a:t>Ubuntu)</a:t>
            </a:r>
            <a:endParaRPr lang="pt-B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/>
              <a:t>Estes comandos cobrem a manutenção do sistema, a verificação de permissões, a gestão de serviços de rede e a execução de algoritmos em linguagem C em conformidade com o </a:t>
            </a:r>
            <a:r>
              <a:rPr lang="pt-BR" sz="1800" b="1" dirty="0"/>
              <a:t>FHS (Filesystem Hierarchy Standard</a:t>
            </a:r>
            <a:r>
              <a:rPr lang="pt-BR" sz="1800" b="1" dirty="0" smtClean="0"/>
              <a:t>)</a:t>
            </a:r>
            <a:r>
              <a:rPr lang="pt-BR" sz="1800" dirty="0" smtClean="0"/>
              <a:t>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1. Atualizações </a:t>
            </a:r>
            <a:r>
              <a:rPr lang="pt-BR" sz="1800" dirty="0"/>
              <a:t>do Sistema e </a:t>
            </a:r>
            <a:r>
              <a:rPr lang="pt-BR" sz="1800" dirty="0" smtClean="0"/>
              <a:t>Repositórios:</a:t>
            </a:r>
          </a:p>
          <a:p>
            <a:pPr marL="342900" indent="-342900">
              <a:buAutoNum type="arabicPeriod"/>
            </a:pPr>
            <a:endParaRPr lang="pt-BR" sz="1800" dirty="0" smtClean="0"/>
          </a:p>
          <a:p>
            <a:pPr marL="0" indent="0">
              <a:buNone/>
            </a:pPr>
            <a:r>
              <a:rPr lang="pt-BR" sz="1800" dirty="0"/>
              <a:t># Atualizar a lista de pacotes dos </a:t>
            </a:r>
            <a:r>
              <a:rPr lang="pt-BR" sz="1800" dirty="0" smtClean="0"/>
              <a:t>repositórios</a:t>
            </a:r>
          </a:p>
          <a:p>
            <a:pPr marL="0" indent="0">
              <a:buNone/>
            </a:pPr>
            <a:r>
              <a:rPr lang="pt-BR" sz="1800" dirty="0" smtClean="0"/>
              <a:t>sudo </a:t>
            </a:r>
            <a:r>
              <a:rPr lang="pt-BR" sz="1800" dirty="0"/>
              <a:t>apt </a:t>
            </a:r>
            <a:r>
              <a:rPr lang="pt-BR" sz="1800" dirty="0" smtClean="0"/>
              <a:t>update</a:t>
            </a:r>
          </a:p>
          <a:p>
            <a:pPr marL="0" indent="0">
              <a:buNone/>
            </a:pPr>
            <a:endParaRPr lang="pt-BR" sz="1800" dirty="0" smtClean="0"/>
          </a:p>
          <a:p>
            <a:pPr marL="0" indent="0">
              <a:buNone/>
            </a:pPr>
            <a:r>
              <a:rPr lang="pt-BR" sz="1800" dirty="0" smtClean="0"/>
              <a:t># </a:t>
            </a:r>
            <a:r>
              <a:rPr lang="pt-BR" sz="1800" dirty="0"/>
              <a:t>Verificar pacotes e atualizações de segurança pendentes </a:t>
            </a:r>
            <a:endParaRPr lang="pt-BR" sz="1800" dirty="0" smtClean="0"/>
          </a:p>
          <a:p>
            <a:pPr marL="0" indent="0">
              <a:buNone/>
            </a:pPr>
            <a:r>
              <a:rPr lang="pt-BR" sz="1800" dirty="0" smtClean="0"/>
              <a:t>sudo </a:t>
            </a:r>
            <a:r>
              <a:rPr lang="pt-BR" sz="1800" dirty="0"/>
              <a:t>apt list --upgradable 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# </a:t>
            </a:r>
            <a:r>
              <a:rPr lang="pt-BR" sz="1800" dirty="0"/>
              <a:t>Verificar o estado do Firewall (</a:t>
            </a:r>
            <a:r>
              <a:rPr lang="pt-BR" sz="1800" dirty="0" smtClean="0"/>
              <a:t>UFW)</a:t>
            </a:r>
          </a:p>
          <a:p>
            <a:pPr marL="0" indent="0">
              <a:buNone/>
            </a:pPr>
            <a:r>
              <a:rPr lang="pt-BR" sz="1800" dirty="0" smtClean="0"/>
              <a:t>sudo </a:t>
            </a:r>
            <a:r>
              <a:rPr lang="pt-BR" sz="1800" dirty="0"/>
              <a:t>ufw </a:t>
            </a:r>
            <a:r>
              <a:rPr lang="pt-BR" sz="1800" dirty="0" smtClean="0"/>
              <a:t>status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1103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dirty="0"/>
              <a:t>2. Utilizadores, Permissões e Estrutura de Diretórios (Bloco 2</a:t>
            </a:r>
            <a:r>
              <a:rPr lang="pt-BR" sz="2400" dirty="0" smtClean="0"/>
              <a:t>):</a:t>
            </a:r>
            <a:endParaRPr lang="pt-BR" dirty="0"/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r>
              <a:rPr lang="pt-BR" sz="2000" dirty="0" smtClean="0"/>
              <a:t>Comandos </a:t>
            </a:r>
            <a:r>
              <a:rPr lang="pt-BR" sz="2000" dirty="0"/>
              <a:t>para criar diretórios do projeto, verificar permissões de acesso ao diretório pessoal ($HOME) e privilégios </a:t>
            </a:r>
            <a:r>
              <a:rPr lang="pt-BR" sz="2000" dirty="0" smtClean="0"/>
              <a:t>administrativos: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sz="1800" dirty="0"/>
              <a:t># Criar a estrutura de diretórios para a demonstração </a:t>
            </a:r>
            <a:endParaRPr lang="pt-BR" sz="1800" dirty="0" smtClean="0"/>
          </a:p>
          <a:p>
            <a:pPr marL="0" indent="0">
              <a:buNone/>
            </a:pPr>
            <a:r>
              <a:rPr lang="pt-BR" sz="1800" dirty="0" smtClean="0"/>
              <a:t>mkdir </a:t>
            </a:r>
            <a:r>
              <a:rPr lang="pt-BR" sz="1800" dirty="0"/>
              <a:t>-p ~/ProjetoIntegrador/demo 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# </a:t>
            </a:r>
            <a:r>
              <a:rPr lang="pt-BR" sz="1800" dirty="0"/>
              <a:t>Navegar até ao diretório do projeto </a:t>
            </a:r>
            <a:endParaRPr lang="pt-BR" sz="1800" dirty="0" smtClean="0"/>
          </a:p>
          <a:p>
            <a:pPr marL="0" indent="0">
              <a:buNone/>
            </a:pPr>
            <a:r>
              <a:rPr lang="pt-BR" sz="1800" dirty="0" smtClean="0"/>
              <a:t>cd </a:t>
            </a:r>
            <a:r>
              <a:rPr lang="pt-BR" sz="1800" dirty="0"/>
              <a:t>~/ProjetoIntegrador/demo 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# </a:t>
            </a:r>
            <a:r>
              <a:rPr lang="pt-BR" sz="1800" dirty="0"/>
              <a:t>Verificar permissões detalhadas dos ficheiros e do </a:t>
            </a:r>
            <a:r>
              <a:rPr lang="pt-BR" sz="1800" dirty="0" smtClean="0"/>
              <a:t>diretório</a:t>
            </a:r>
          </a:p>
          <a:p>
            <a:pPr marL="0" indent="0">
              <a:buNone/>
            </a:pPr>
            <a:r>
              <a:rPr lang="pt-BR" sz="1800" dirty="0" smtClean="0"/>
              <a:t>ls </a:t>
            </a:r>
            <a:r>
              <a:rPr lang="pt-BR" sz="1800" dirty="0"/>
              <a:t>-la 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# </a:t>
            </a:r>
            <a:r>
              <a:rPr lang="pt-BR" sz="1800" dirty="0"/>
              <a:t>Confirmar privilégios de utilizador e grupos associados (ex: grupo </a:t>
            </a:r>
            <a:r>
              <a:rPr lang="pt-BR" sz="1800" dirty="0" smtClean="0"/>
              <a:t>sudo)</a:t>
            </a:r>
          </a:p>
          <a:p>
            <a:pPr marL="0" indent="0">
              <a:buNone/>
            </a:pPr>
            <a:r>
              <a:rPr lang="pt-BR" sz="1800" dirty="0" smtClean="0"/>
              <a:t>id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03377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600" dirty="0"/>
              <a:t>3. Serviços Ativos, Processos e Portas Abertas (Bloco 3</a:t>
            </a:r>
            <a:r>
              <a:rPr lang="pt-BR" sz="2600" dirty="0" smtClean="0"/>
              <a:t>):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Comandos utilitários de diagnóstico para mapear serviços em execução e portas de rede </a:t>
            </a:r>
            <a:r>
              <a:rPr lang="pt-BR" sz="1800" dirty="0" smtClean="0"/>
              <a:t>expostas: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200" dirty="0"/>
              <a:t># Listar serviços ativos e em execução no arranque do </a:t>
            </a:r>
            <a:r>
              <a:rPr lang="pt-BR" sz="2200" dirty="0" smtClean="0"/>
              <a:t>sistema</a:t>
            </a:r>
          </a:p>
          <a:p>
            <a:pPr marL="0" indent="0">
              <a:buNone/>
            </a:pPr>
            <a:r>
              <a:rPr lang="pt-BR" sz="2200" dirty="0" smtClean="0"/>
              <a:t>systemctl </a:t>
            </a:r>
            <a:r>
              <a:rPr lang="pt-BR" sz="2200" dirty="0"/>
              <a:t>list-units --type=service --</a:t>
            </a:r>
            <a:r>
              <a:rPr lang="pt-BR" sz="2200" dirty="0" smtClean="0"/>
              <a:t>state=running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200" dirty="0" smtClean="0"/>
              <a:t># </a:t>
            </a:r>
            <a:r>
              <a:rPr lang="pt-BR" sz="2200" dirty="0"/>
              <a:t>Verificar portas de rede locais abertas e escutando </a:t>
            </a:r>
            <a:r>
              <a:rPr lang="pt-BR" sz="2200" dirty="0" smtClean="0"/>
              <a:t>conexões</a:t>
            </a:r>
          </a:p>
          <a:p>
            <a:pPr marL="0" indent="0">
              <a:buNone/>
            </a:pPr>
            <a:r>
              <a:rPr lang="pt-BR" sz="2200" dirty="0" smtClean="0"/>
              <a:t>ss –tulpn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200" dirty="0" smtClean="0"/>
              <a:t># </a:t>
            </a:r>
            <a:r>
              <a:rPr lang="pt-BR" sz="2200" dirty="0"/>
              <a:t>Monitorizar o consumo instantâneo de RAM e CPU (htop / </a:t>
            </a:r>
            <a:r>
              <a:rPr lang="pt-BR" sz="2200" dirty="0" smtClean="0"/>
              <a:t>top)</a:t>
            </a:r>
          </a:p>
          <a:p>
            <a:pPr marL="0" indent="0">
              <a:buNone/>
            </a:pPr>
            <a:r>
              <a:rPr lang="pt-BR" sz="2200" dirty="0" smtClean="0"/>
              <a:t>htop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95627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pt-BR" sz="2000" b="1" dirty="0"/>
              <a:t>4. Ambiente de Programação: Compilação de Algoritmo em C e </a:t>
            </a:r>
            <a:r>
              <a:rPr lang="pt-BR" sz="2000" b="1" dirty="0" smtClean="0"/>
              <a:t>FHS</a:t>
            </a:r>
          </a:p>
          <a:p>
            <a:pPr marL="0" indent="0">
              <a:buNone/>
            </a:pPr>
            <a:endParaRPr lang="pt-BR" sz="2000" b="1" dirty="0"/>
          </a:p>
          <a:p>
            <a:pPr marL="0" indent="0">
              <a:buNone/>
            </a:pPr>
            <a:r>
              <a:rPr lang="pt-BR" sz="2000" i="1" dirty="0"/>
              <a:t>Demonstração da criação, compilação e execução de um código em linguagem C no terminal, respeitando a hierarquia do FHS</a:t>
            </a:r>
            <a:r>
              <a:rPr lang="pt-BR" sz="2000" i="1" dirty="0" smtClean="0"/>
              <a:t>: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 smtClean="0"/>
              <a:t>Instalação </a:t>
            </a:r>
            <a:r>
              <a:rPr lang="pt-BR" sz="2000" b="1" dirty="0"/>
              <a:t>do </a:t>
            </a:r>
            <a:r>
              <a:rPr lang="pt-BR" sz="2000" b="1" dirty="0" smtClean="0"/>
              <a:t>compilador </a:t>
            </a:r>
            <a:r>
              <a:rPr lang="pt-BR" sz="2000" b="1" dirty="0"/>
              <a:t>(se necessário</a:t>
            </a:r>
            <a:r>
              <a:rPr lang="pt-BR" sz="2000" b="1" dirty="0" smtClean="0"/>
              <a:t>):</a:t>
            </a:r>
          </a:p>
          <a:p>
            <a:endParaRPr lang="pt-BR" sz="2000" b="1" dirty="0"/>
          </a:p>
          <a:p>
            <a:pPr marL="0" indent="0">
              <a:buNone/>
            </a:pPr>
            <a:r>
              <a:rPr lang="pt-BR" sz="2000" dirty="0"/>
              <a:t># No BackBox o GCC já se encontra disponível; no Ubuntu exige a instalação do </a:t>
            </a:r>
            <a:r>
              <a:rPr lang="pt-BR" sz="2000" dirty="0" smtClean="0"/>
              <a:t>build-essential</a:t>
            </a:r>
          </a:p>
          <a:p>
            <a:pPr marL="0" indent="0">
              <a:buNone/>
            </a:pPr>
            <a:r>
              <a:rPr lang="pt-BR" sz="2000" dirty="0" smtClean="0"/>
              <a:t>sudo </a:t>
            </a:r>
            <a:r>
              <a:rPr lang="pt-BR" sz="2000" dirty="0"/>
              <a:t>apt install gcc build-essential </a:t>
            </a:r>
            <a:r>
              <a:rPr lang="pt-BR" sz="2000" dirty="0" smtClean="0"/>
              <a:t>–y</a:t>
            </a:r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r>
              <a:rPr lang="pt-BR" sz="2000" dirty="0"/>
              <a:t>Criação do ficheiro de </a:t>
            </a:r>
            <a:r>
              <a:rPr lang="pt-BR" sz="2000" dirty="0" smtClean="0"/>
              <a:t>código-fonte:</a:t>
            </a:r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r>
              <a:rPr lang="pt-BR" sz="2000" dirty="0"/>
              <a:t>n</a:t>
            </a:r>
            <a:r>
              <a:rPr lang="pt-BR" sz="2000" dirty="0" smtClean="0"/>
              <a:t>ano algoritmo.c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 smtClean="0"/>
              <a:t>O conteúdo </a:t>
            </a:r>
            <a:r>
              <a:rPr lang="pt-BR" sz="2000" dirty="0"/>
              <a:t>do código </a:t>
            </a:r>
            <a:r>
              <a:rPr lang="pt-BR" sz="2000" dirty="0" smtClean="0"/>
              <a:t>C:</a:t>
            </a:r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r>
              <a:rPr lang="pt-BR" sz="2000" dirty="0" smtClean="0"/>
              <a:t>Compilação </a:t>
            </a:r>
            <a:r>
              <a:rPr lang="pt-BR" sz="2000" dirty="0"/>
              <a:t>e Execução do </a:t>
            </a:r>
            <a:r>
              <a:rPr lang="pt-BR" sz="2000" dirty="0" smtClean="0"/>
              <a:t>Algoritmo:</a:t>
            </a:r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r>
              <a:rPr lang="pt-BR" sz="2000" dirty="0"/>
              <a:t># Compilar o código-fonte gerando o binário executável </a:t>
            </a:r>
            <a:r>
              <a:rPr lang="pt-BR" sz="2000" dirty="0" smtClean="0"/>
              <a:t>local</a:t>
            </a:r>
          </a:p>
          <a:p>
            <a:pPr marL="0" indent="0">
              <a:buNone/>
            </a:pPr>
            <a:r>
              <a:rPr lang="pt-BR" sz="2000" dirty="0" smtClean="0"/>
              <a:t>gcc </a:t>
            </a:r>
            <a:r>
              <a:rPr lang="pt-BR" sz="2000" dirty="0"/>
              <a:t>algoritmo.c -o </a:t>
            </a:r>
            <a:r>
              <a:rPr lang="pt-BR" sz="2000" dirty="0" smtClean="0"/>
              <a:t>algoritmo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 smtClean="0"/>
              <a:t># </a:t>
            </a:r>
            <a:r>
              <a:rPr lang="pt-BR" sz="2000" dirty="0"/>
              <a:t>Atribuir permissão de </a:t>
            </a:r>
            <a:r>
              <a:rPr lang="pt-BR" sz="2000" dirty="0" smtClean="0"/>
              <a:t>execução</a:t>
            </a:r>
          </a:p>
          <a:p>
            <a:pPr marL="0" indent="0">
              <a:buNone/>
            </a:pPr>
            <a:r>
              <a:rPr lang="pt-BR" sz="2000" dirty="0" smtClean="0"/>
              <a:t>chmod </a:t>
            </a:r>
            <a:r>
              <a:rPr lang="pt-BR" sz="2000" dirty="0"/>
              <a:t>+x </a:t>
            </a:r>
            <a:r>
              <a:rPr lang="pt-BR" sz="2000" dirty="0" smtClean="0"/>
              <a:t>algoritmo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 smtClean="0"/>
              <a:t># </a:t>
            </a:r>
            <a:r>
              <a:rPr lang="pt-BR" sz="2000" dirty="0"/>
              <a:t>Executar o algoritmo (tempo de execução &lt; 1s</a:t>
            </a:r>
            <a:r>
              <a:rPr lang="pt-BR" sz="2000" dirty="0" smtClean="0"/>
              <a:t>)</a:t>
            </a:r>
          </a:p>
          <a:p>
            <a:pPr marL="0" indent="0">
              <a:buNone/>
            </a:pPr>
            <a:r>
              <a:rPr lang="pt-BR" sz="2000" dirty="0" smtClean="0"/>
              <a:t>./algoritmo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18633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Requisitos </a:t>
            </a:r>
            <a:r>
              <a:rPr lang="pt-BR" dirty="0"/>
              <a:t>do </a:t>
            </a:r>
            <a:r>
              <a:rPr lang="pt-BR" dirty="0" smtClean="0"/>
              <a:t>Sistema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smtClean="0"/>
              <a:t>Uma comparação dos </a:t>
            </a:r>
            <a:r>
              <a:rPr lang="pt-BR" sz="2000" dirty="0"/>
              <a:t>requisitos mínimos recomendados para execução fluida em ambiente virtualizado</a:t>
            </a:r>
            <a:r>
              <a:rPr lang="pt-BR" sz="2000" dirty="0" smtClean="0"/>
              <a:t>:</a:t>
            </a:r>
          </a:p>
          <a:p>
            <a:pPr marL="0" indent="0">
              <a:buNone/>
            </a:pPr>
            <a:endParaRPr lang="pt-BR" sz="2000" dirty="0"/>
          </a:p>
        </p:txBody>
      </p:sp>
      <p:pic>
        <p:nvPicPr>
          <p:cNvPr id="1026" name="Picture 2" descr="C:\Users\Douglas\Desktop\Captura de tela 2026-09-25 1502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81469"/>
            <a:ext cx="7620000" cy="3299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47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Dados do Experimento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 smtClean="0"/>
              <a:t>Hardware </a:t>
            </a:r>
            <a:r>
              <a:rPr lang="pt-BR" sz="2400" b="1" dirty="0"/>
              <a:t>do Computador Hospedeiro (Host</a:t>
            </a:r>
            <a:r>
              <a:rPr lang="pt-BR" sz="2400" b="1" dirty="0" smtClean="0"/>
              <a:t>):</a:t>
            </a:r>
            <a:endParaRPr lang="pt-BR" sz="2400" b="1" dirty="0"/>
          </a:p>
          <a:p>
            <a:r>
              <a:rPr lang="pt-BR" sz="2400" b="1" dirty="0"/>
              <a:t>Processador:</a:t>
            </a:r>
            <a:r>
              <a:rPr lang="pt-BR" sz="2400" dirty="0"/>
              <a:t> Intel Celeron N4020.</a:t>
            </a:r>
          </a:p>
          <a:p>
            <a:r>
              <a:rPr lang="pt-BR" sz="2400" b="1" dirty="0"/>
              <a:t>Memória RAM:</a:t>
            </a:r>
            <a:r>
              <a:rPr lang="pt-BR" sz="2400" dirty="0"/>
              <a:t> 4,00 GB.</a:t>
            </a:r>
          </a:p>
          <a:p>
            <a:r>
              <a:rPr lang="pt-BR" sz="2400" b="1" dirty="0"/>
              <a:t>Placa de Vídeo / Gráficos:</a:t>
            </a:r>
            <a:r>
              <a:rPr lang="pt-BR" sz="2400" dirty="0"/>
              <a:t> Intel UHD Graphics 600.</a:t>
            </a:r>
          </a:p>
          <a:p>
            <a:r>
              <a:rPr lang="pt-BR" sz="2400" b="1" dirty="0"/>
              <a:t>Software Virtualizador:</a:t>
            </a:r>
            <a:r>
              <a:rPr lang="pt-BR" sz="2400" dirty="0"/>
              <a:t> VirtualBox versão 7.2</a:t>
            </a:r>
            <a:r>
              <a:rPr lang="pt-BR" sz="2400" dirty="0" smtClean="0"/>
              <a:t>.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pt-BR" sz="2400" b="1" dirty="0" smtClean="0"/>
              <a:t>Recursos </a:t>
            </a:r>
            <a:r>
              <a:rPr lang="pt-BR" sz="2400" b="1" dirty="0"/>
              <a:t>Alocados para as Máquinas Virtuais (Guest</a:t>
            </a:r>
            <a:r>
              <a:rPr lang="pt-BR" sz="2400" b="1" dirty="0" smtClean="0"/>
              <a:t>):</a:t>
            </a:r>
            <a:endParaRPr lang="pt-BR" sz="2400" b="1" dirty="0"/>
          </a:p>
          <a:p>
            <a:r>
              <a:rPr lang="pt-BR" sz="2400" dirty="0"/>
              <a:t>Para garantir a execução equivalente durante os testes, foram definidos parâmetros padrão para ambos os sistemas operacionais: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412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422864"/>
          </a:xfrm>
        </p:spPr>
        <p:txBody>
          <a:bodyPr>
            <a:normAutofit/>
          </a:bodyPr>
          <a:lstStyle/>
          <a:p>
            <a:pPr algn="l"/>
            <a:r>
              <a:rPr lang="pt-BR" sz="3600" dirty="0"/>
              <a:t>Recursos Alocados para as Máquinas Virtuais (Guest)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599"/>
            <a:ext cx="8229600" cy="441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/>
              <a:t>Para garantir a execução equivalente durante os testes, foram definidos parâmetros padrão para ambos os sistemas operacionais</a:t>
            </a:r>
            <a:r>
              <a:rPr lang="pt-BR" sz="1800" dirty="0" smtClean="0"/>
              <a:t>:</a:t>
            </a:r>
          </a:p>
          <a:p>
            <a:pPr marL="0" indent="0">
              <a:buNone/>
            </a:pPr>
            <a:endParaRPr lang="pt-BR" sz="1800" dirty="0"/>
          </a:p>
        </p:txBody>
      </p:sp>
      <p:pic>
        <p:nvPicPr>
          <p:cNvPr id="2050" name="Picture 2" descr="C:\Users\Douglas\Desktop\ess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14600"/>
            <a:ext cx="7185592" cy="3839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80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2800" dirty="0"/>
              <a:t>Mapeamento do Consumo Real Observado nos </a:t>
            </a:r>
            <a:r>
              <a:rPr lang="pt-BR" sz="2800" dirty="0" smtClean="0"/>
              <a:t>Testes</a:t>
            </a:r>
            <a:endParaRPr lang="pt-B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074" name="Picture 2" descr="C:\Users\Douglas\Desktop\iopio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93776"/>
            <a:ext cx="7924800" cy="2579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89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No Experimento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754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 b="1" dirty="0"/>
              <a:t>Ambiente Hospedeiro (Host):</a:t>
            </a:r>
            <a:endParaRPr lang="pt-BR" sz="2000" dirty="0"/>
          </a:p>
          <a:p>
            <a:r>
              <a:rPr lang="pt-BR" sz="2000" dirty="0"/>
              <a:t>Processador: Intel Celeron N4020 | Memória: 4,00 GB RAM | GPU: Intel UHD Graphics 600</a:t>
            </a:r>
            <a:r>
              <a:rPr lang="pt-BR" sz="2000" dirty="0" smtClean="0"/>
              <a:t>.</a:t>
            </a:r>
            <a:endParaRPr lang="pt-BR" sz="2000" dirty="0"/>
          </a:p>
          <a:p>
            <a:r>
              <a:rPr lang="pt-BR" sz="2000" dirty="0"/>
              <a:t>Virtualizador: Oracle VM VirtualBox 7.2</a:t>
            </a:r>
            <a:r>
              <a:rPr lang="pt-BR" sz="2000" dirty="0" smtClean="0"/>
              <a:t>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Sistemas Operacionais Avaliados:</a:t>
            </a:r>
            <a:endParaRPr lang="pt-BR" sz="2000" dirty="0"/>
          </a:p>
          <a:p>
            <a:r>
              <a:rPr lang="pt-BR" sz="2000" dirty="0"/>
              <a:t>Ubuntu Desktop (AMD64).</a:t>
            </a:r>
          </a:p>
          <a:p>
            <a:r>
              <a:rPr lang="pt-BR" sz="2000" dirty="0"/>
              <a:t>BackBox Linux v9 (AMD64</a:t>
            </a:r>
            <a:r>
              <a:rPr lang="pt-BR" sz="2000" dirty="0" smtClean="0"/>
              <a:t>).</a:t>
            </a:r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Alocação de Recursos na VM:</a:t>
            </a:r>
            <a:endParaRPr lang="pt-BR" sz="2000" dirty="0"/>
          </a:p>
          <a:p>
            <a:r>
              <a:rPr lang="pt-BR" sz="2000" dirty="0"/>
              <a:t>Execução padronizada em ambiente de hardware limitado (4 GB de RAM compartilhados).</a:t>
            </a:r>
          </a:p>
          <a:p>
            <a:r>
              <a:rPr lang="pt-BR" sz="2000" dirty="0"/>
              <a:t>O BackBox apresentou menor footprint de memória em repouso (~1,0 a 1,4 GB) em comparação ao Ubuntu (~1,4 a 1,8 GB), porém exigiu maior armazenamento em disco (~15 a 20 GB) para comportar o ecossistema nativo de segurança</a:t>
            </a:r>
            <a:r>
              <a:rPr lang="pt-BR" sz="2000" dirty="0" smtClean="0"/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9304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Recursos Alocados para as Máquinas Virtuais (Guest</a:t>
            </a:r>
            <a:r>
              <a:rPr lang="pt-BR" b="1" dirty="0" smtClean="0"/>
              <a:t>):</a:t>
            </a:r>
            <a:endParaRPr lang="pt-BR" b="1" dirty="0"/>
          </a:p>
          <a:p>
            <a:pPr marL="0" indent="0">
              <a:buNone/>
            </a:pPr>
            <a:r>
              <a:rPr lang="pt-BR" dirty="0"/>
              <a:t>Para garantir a execução equivalente durante os testes, foram definidos parâmetros padrão para ambos os sistemas operacionais: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024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Curiosidades (Experimento)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b="1" dirty="0"/>
              <a:t>Inversão da Relação Desempenho vs. Segurança:</a:t>
            </a:r>
            <a:endParaRPr lang="pt-BR" sz="1800" dirty="0"/>
          </a:p>
          <a:p>
            <a:r>
              <a:rPr lang="pt-BR" sz="1800" dirty="0"/>
              <a:t>Embora o </a:t>
            </a:r>
            <a:r>
              <a:rPr lang="pt-BR" sz="1800" b="1" dirty="0"/>
              <a:t>BackBox Linux</a:t>
            </a:r>
            <a:r>
              <a:rPr lang="pt-BR" sz="1800" dirty="0"/>
              <a:t> seja mais leve e rápido no consumo de memória RAM em repouso (~1,0 a 1,4 GB) graças ao ambiente Xfce, ele teve uma postura de segurança defensiva muito inferior à do Ubuntu (nota final </a:t>
            </a:r>
            <a:r>
              <a:rPr lang="pt-BR" sz="1800" b="1" dirty="0"/>
              <a:t>2,4</a:t>
            </a:r>
            <a:r>
              <a:rPr lang="pt-BR" sz="1800" dirty="0"/>
              <a:t> contra </a:t>
            </a:r>
            <a:r>
              <a:rPr lang="pt-BR" sz="1800" b="1" dirty="0"/>
              <a:t>3,9</a:t>
            </a:r>
            <a:r>
              <a:rPr lang="pt-BR" sz="1800" dirty="0"/>
              <a:t> do Ubuntu</a:t>
            </a:r>
            <a:r>
              <a:rPr lang="pt-BR" sz="1800" dirty="0" smtClean="0"/>
              <a:t>).</a:t>
            </a:r>
          </a:p>
          <a:p>
            <a:endParaRPr lang="pt-BR" sz="1800" dirty="0"/>
          </a:p>
          <a:p>
            <a:pPr marL="0" indent="0">
              <a:buNone/>
            </a:pPr>
            <a:r>
              <a:rPr lang="pt-BR" sz="1800" b="1" dirty="0"/>
              <a:t>O "Custo" das Ferramentas de Hacking:</a:t>
            </a:r>
            <a:endParaRPr lang="pt-BR" sz="1800" dirty="0"/>
          </a:p>
          <a:p>
            <a:r>
              <a:rPr lang="pt-BR" sz="1800" dirty="0"/>
              <a:t>O espaço em disco ocupado pelo BackBox foi o dobro do Ubuntu (~15 a 20 GB contra ~8 a 10 GB). Isso ocorre porque o BackBox vem com cerca de 600 ferramentas de auditoria e </a:t>
            </a:r>
            <a:r>
              <a:rPr lang="pt-BR" sz="1800" i="1" dirty="0"/>
              <a:t>pentest</a:t>
            </a:r>
            <a:r>
              <a:rPr lang="pt-BR" sz="1800" dirty="0"/>
              <a:t> </a:t>
            </a:r>
            <a:r>
              <a:rPr lang="pt-BR" sz="1800" dirty="0" smtClean="0"/>
              <a:t>pré-instaladas.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7259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/>
              <a:t>Explosão de Vulnerabilidades (CVEs):</a:t>
            </a:r>
            <a:endParaRPr lang="pt-BR" sz="2000" dirty="0"/>
          </a:p>
          <a:p>
            <a:r>
              <a:rPr lang="pt-BR" sz="2000" dirty="0"/>
              <a:t>A varredura do OpenVAS identificou entre </a:t>
            </a:r>
            <a:r>
              <a:rPr lang="pt-BR" sz="2000" b="1" dirty="0"/>
              <a:t>40 a 80 CVEs</a:t>
            </a:r>
            <a:r>
              <a:rPr lang="pt-BR" sz="2000" dirty="0"/>
              <a:t> e até </a:t>
            </a:r>
            <a:r>
              <a:rPr lang="pt-BR" sz="2000" b="1" dirty="0"/>
              <a:t>5 vulnerabilidades críticas</a:t>
            </a:r>
            <a:r>
              <a:rPr lang="pt-BR" sz="2000" dirty="0"/>
              <a:t> no BackBox recém-instalado, contra </a:t>
            </a:r>
            <a:r>
              <a:rPr lang="pt-BR" sz="2000" b="1" dirty="0"/>
              <a:t>0 críticas</a:t>
            </a:r>
            <a:r>
              <a:rPr lang="pt-BR" sz="2000" dirty="0"/>
              <a:t> no Ubuntu. Isso prova que ter muitos softwares de invasão pré-instalados aumenta drasticamente a superfície de ataque. </a:t>
            </a:r>
            <a:endParaRPr lang="pt-BR" sz="2000" dirty="0" smtClean="0"/>
          </a:p>
          <a:p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Facilidade para Desenvolvedores:</a:t>
            </a:r>
            <a:endParaRPr lang="pt-BR" sz="2000" dirty="0"/>
          </a:p>
          <a:p>
            <a:r>
              <a:rPr lang="pt-BR" sz="2000" dirty="0"/>
              <a:t>O BackBox já trouxe o compilador de linguagem C (gcc) pronto e disponível no sistema, enquanto o Ubuntu exigiu a instalação manual prévia do pacote build-essential</a:t>
            </a:r>
            <a:r>
              <a:rPr lang="pt-BR" sz="2000" dirty="0" smtClean="0"/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079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041864"/>
          </a:xfrm>
        </p:spPr>
        <p:txBody>
          <a:bodyPr>
            <a:normAutofit/>
          </a:bodyPr>
          <a:lstStyle/>
          <a:p>
            <a:pPr algn="l"/>
            <a:r>
              <a:rPr lang="pt-BR" sz="3200" dirty="0"/>
              <a:t>Comparação com o Ubuntu </a:t>
            </a:r>
            <a:r>
              <a:rPr lang="pt-BR" sz="3200" dirty="0" smtClean="0"/>
              <a:t>(Experimento)</a:t>
            </a:r>
            <a:endParaRPr lang="pt-BR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3999"/>
            <a:ext cx="7924800" cy="508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603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94264"/>
          </a:xfrm>
        </p:spPr>
        <p:txBody>
          <a:bodyPr/>
          <a:lstStyle/>
          <a:p>
            <a:pPr algn="ctr"/>
            <a:r>
              <a:rPr lang="pt-BR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4525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5625</TotalTime>
  <Words>1534</Words>
  <Application>Microsoft Office PowerPoint</Application>
  <PresentationFormat>On-screen Show (4:3)</PresentationFormat>
  <Paragraphs>177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Foundry</vt:lpstr>
      <vt:lpstr>Apresentação de Projeto Integrador I</vt:lpstr>
      <vt:lpstr>Apresentação do Sistema (Histórico e Perfil de Uso)</vt:lpstr>
      <vt:lpstr>Instalação (Virtualizador e Sistema Operacional)</vt:lpstr>
      <vt:lpstr>PowerPoint Presentation</vt:lpstr>
      <vt:lpstr>PowerPoint Presentation</vt:lpstr>
      <vt:lpstr>PowerPoint Presentation</vt:lpstr>
      <vt:lpstr>Comandos Essenciais para Uso (Terminal no BackBox / Ubuntu)</vt:lpstr>
      <vt:lpstr>PowerPoint Presentation</vt:lpstr>
      <vt:lpstr>PowerPoint Presentation</vt:lpstr>
      <vt:lpstr>PowerPoint Presentation</vt:lpstr>
      <vt:lpstr>Requisitos do Sistema</vt:lpstr>
      <vt:lpstr>Dados do Experimento</vt:lpstr>
      <vt:lpstr>Recursos Alocados para as Máquinas Virtuais (Guest)</vt:lpstr>
      <vt:lpstr>Mapeamento do Consumo Real Observado nos Testes</vt:lpstr>
      <vt:lpstr>No Experimento</vt:lpstr>
      <vt:lpstr>PowerPoint Presentation</vt:lpstr>
      <vt:lpstr>Curiosidades (Experimento)</vt:lpstr>
      <vt:lpstr>PowerPoint Presentation</vt:lpstr>
      <vt:lpstr>Comparação com o Ubuntu (Experimento)</vt:lpstr>
      <vt:lpstr>Conclusão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Pohl Brum</dc:creator>
  <cp:lastModifiedBy>Douglas</cp:lastModifiedBy>
  <cp:revision>18</cp:revision>
  <dcterms:created xsi:type="dcterms:W3CDTF">2006-08-16T00:00:00Z</dcterms:created>
  <dcterms:modified xsi:type="dcterms:W3CDTF">2026-09-25T21:26:55Z</dcterms:modified>
</cp:coreProperties>
</file>